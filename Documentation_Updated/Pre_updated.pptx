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embeddedFontLst>
    <p:embeddedFont>
      <p:font typeface="Raleway" pitchFamily="2" charset="0"/>
      <p:regular r:id="rId15"/>
      <p:bold r:id="rId16"/>
      <p:italic r:id="rId17"/>
      <p:boldItalic r:id="rId18"/>
    </p:embeddedFont>
    <p:embeddedFont>
      <p:font typeface="Raleway Light" pitchFamily="2" charset="0"/>
      <p:regular r:id="rId19"/>
      <p: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F2B316-875B-40D1-848A-B1036E1CBB84}" v="14" dt="2026-05-06T13:21:42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7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576CA-4DD7-4C19-B9C3-FA47DAAA5225}" type="datetimeFigureOut"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7218E-D27A-427C-85EA-88DCB46F30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16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147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CardioInsight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071167"/>
            <a:ext cx="26506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Explainable AI for ECG Diagnosis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50522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Abdallah </a:t>
            </a:r>
            <a:r>
              <a:rPr lang="en-US" sz="11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Jbr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, Ibrahim Melhem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278656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by Dr. Wafaa Almaaitah · Faculty of Artificial Intelligence, Al-Balqa Applied University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C0515B-2443-8500-350F-01A312EF0DD7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2" y="407863"/>
            <a:ext cx="4149700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Scale of the Challenge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894162" y="1076474"/>
            <a:ext cx="2314426" cy="43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17.9M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4220691" y="167483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Deaths Per Year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94162" y="1957239"/>
            <a:ext cx="231442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CVDs cause ~31–32% of all global fatalities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64337" y="1076474"/>
            <a:ext cx="2314501" cy="43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22.2M</a:t>
            </a:r>
            <a:endParaRPr lang="en-US" sz="3450" dirty="0"/>
          </a:p>
        </p:txBody>
      </p:sp>
      <p:sp>
        <p:nvSpPr>
          <p:cNvPr id="8" name="Text 5"/>
          <p:cNvSpPr/>
          <p:nvPr/>
        </p:nvSpPr>
        <p:spPr>
          <a:xfrm>
            <a:off x="6690940" y="167483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Projected by 2030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64337" y="1957239"/>
            <a:ext cx="231450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Rising burden demands scalable, intelligent diagnostic solutions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129213" y="2684785"/>
            <a:ext cx="2314501" cy="43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r>
              <a:rPr lang="ar-JO" sz="3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r>
              <a:rPr lang="en-US" sz="3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%+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5455816" y="328314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DL Accuracy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129213" y="3565550"/>
            <a:ext cx="231450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CNNs and Transformers match or exceed cardiologist-level performance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94162" y="4117628"/>
            <a:ext cx="4784675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ECG is the cornerstone cardiac diagnostic — non-invasive and widely accessible. Wearables are generating unprecedented ECG volumes, yet manual interpretation remains slow, expert-dependent, and inconsistent across observers.</a:t>
            </a:r>
            <a:endParaRPr lang="en-US" sz="1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B71D9B-5E78-7D8F-0446-35771D8F6600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35161"/>
            <a:ext cx="4693816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Transparency Gap in Cardiac AI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940668"/>
            <a:ext cx="5067672" cy="28284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1488" y="188885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51488" y="2162324"/>
            <a:ext cx="2599060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 models achieve 90–95%+ accuracy on ECG classification, yet operate as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black boxes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Clinicians receive a diagnosis with no insight into how it was reached.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98066" y="3979515"/>
            <a:ext cx="3927128" cy="828824"/>
          </a:xfrm>
          <a:prstGeom prst="roundRect">
            <a:avLst>
              <a:gd name="adj" fmla="val 827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3778" y="3979515"/>
            <a:ext cx="57150" cy="828824"/>
          </a:xfrm>
          <a:prstGeom prst="roundRect">
            <a:avLst>
              <a:gd name="adj" fmla="val 84651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0334" y="4108921"/>
            <a:ext cx="149148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Over-trust or dismissal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0334" y="4344963"/>
            <a:ext cx="362545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transparency, clinicians either blindly accept or reject AI recommendations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18732" y="3979515"/>
            <a:ext cx="3927128" cy="828824"/>
          </a:xfrm>
          <a:prstGeom prst="roundRect">
            <a:avLst>
              <a:gd name="adj" fmla="val 827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04445" y="3979515"/>
            <a:ext cx="57150" cy="828824"/>
          </a:xfrm>
          <a:prstGeom prst="roundRect">
            <a:avLst>
              <a:gd name="adj" fmla="val 84651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91001" y="4108921"/>
            <a:ext cx="202450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Interpretability drives adoption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91001" y="4344963"/>
            <a:ext cx="362545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Research confirms explainability significantly increases clinician acceptance</a:t>
            </a:r>
            <a:endParaRPr lang="en-US" sz="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704F48-0937-9CB8-FD2B-F18A77AFB5CD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03386"/>
            <a:ext cx="26580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795114"/>
            <a:ext cx="733640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unified pipeline from raw ECG signal to clinically interpretable output — a two-tier deep learning design, multi-method explainability, and bilingual LLM-generated narratives.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82439"/>
            <a:ext cx="6553200" cy="3657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59" y="1182439"/>
            <a:ext cx="6553200" cy="3657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FA76BE-F13E-AB73-7A54-A8445A06C2F5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ption Patch"/>
          <p:cNvSpPr/>
          <p:nvPr/>
        </p:nvSpPr>
        <p:spPr>
          <a:xfrm>
            <a:off x="6336792" y="3776472"/>
            <a:ext cx="896112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>
                <a:solidFill>
                  <a:srgbClr val="1B1B27"/>
                </a:solidFill>
                <a:latin typeface="Roboto"/>
              </a:rPr>
              <a:t>NiceGUI Web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03386"/>
            <a:ext cx="26580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Two-Tier Screening Architecture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795114"/>
            <a:ext cx="733640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lightweight binary model screens every live window; only flagged signals reach the heavy CNN-SE-Transformer, XAI, and report engine.</a:t>
            </a:r>
            <a:endParaRPr lang="en-US" sz="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FA76BE-F13E-AB73-7A54-A8445A06C2F5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905256" y="2240280"/>
            <a:ext cx="1417320" cy="1005840"/>
          </a:xfrm>
          <a:prstGeom prst="roundRect">
            <a:avLst>
              <a:gd name="adj" fmla="val 6000"/>
            </a:avLst>
          </a:prstGeom>
          <a:solidFill>
            <a:srgbClr val="E1E1EA"/>
          </a:solidFill>
          <a:ln w="952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1B27"/>
                </a:solidFill>
                <a:latin typeface="Raleway"/>
              </a:rPr>
              <a:t>Live ECG Stream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3C3939"/>
                </a:solidFill>
                <a:latin typeface="Roboto"/>
              </a:rPr>
              <a:t>10 s windows with 5 s 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2616" y="1947672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6B78"/>
                </a:solidFill>
                <a:latin typeface="Roboto"/>
              </a:rPr>
              <a:t>TIER 1 · SCREENING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2616" y="2194560"/>
            <a:ext cx="1691640" cy="1097280"/>
          </a:xfrm>
          <a:prstGeom prst="roundRect">
            <a:avLst>
              <a:gd name="adj" fmla="val 6000"/>
            </a:avLst>
          </a:prstGeom>
          <a:solidFill>
            <a:srgbClr val="E1E1EA"/>
          </a:solidFill>
          <a:ln w="952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1B27"/>
                </a:solidFill>
                <a:latin typeface="Raleway"/>
              </a:rPr>
              <a:t>Lightweight Binary Model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3C3939"/>
                </a:solidFill>
                <a:latin typeface="Roboto"/>
              </a:rPr>
              <a:t>Fast Normal vs. Non-normal screening on the signal alone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0016" y="141732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E1E1EA"/>
          </a:solidFill>
          <a:ln w="952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1B27"/>
                </a:solidFill>
                <a:latin typeface="Raleway"/>
              </a:rPr>
              <a:t>Normal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3C3939"/>
                </a:solidFill>
                <a:latin typeface="Roboto"/>
              </a:rPr>
              <a:t>Keep monitoring; heavy model is skipped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30175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B6B78"/>
                </a:solidFill>
                <a:latin typeface="Roboto"/>
              </a:rPr>
              <a:t>TIER 2 · DEEP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0016" y="3246120"/>
            <a:ext cx="1600200" cy="1005840"/>
          </a:xfrm>
          <a:prstGeom prst="roundRect">
            <a:avLst>
              <a:gd name="adj" fmla="val 6000"/>
            </a:avLst>
          </a:prstGeom>
          <a:solidFill>
            <a:srgbClr val="1B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FFFFFF"/>
                </a:solidFill>
                <a:latin typeface="Raleway"/>
              </a:rPr>
              <a:t>CNN-SE-Transformer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E1E1EA"/>
                </a:solidFill>
                <a:latin typeface="Roboto"/>
              </a:rPr>
              <a:t>Multi-label: NORM, MI, STTC, CD, HYP, fused with metadata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0256" y="3246120"/>
            <a:ext cx="1600200" cy="1005840"/>
          </a:xfrm>
          <a:prstGeom prst="roundRect">
            <a:avLst>
              <a:gd name="adj" fmla="val 6000"/>
            </a:avLst>
          </a:prstGeom>
          <a:solidFill>
            <a:srgbClr val="E1E1EA"/>
          </a:solidFill>
          <a:ln w="952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73152" rIns="118872" bIns="73152" rtlCol="0" anchor="ctr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B1B27"/>
                </a:solidFill>
                <a:latin typeface="Raleway"/>
              </a:rPr>
              <a:t>Explainable Output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3C3939"/>
                </a:solidFill>
                <a:latin typeface="Roboto"/>
              </a:rPr>
              <a:t>Grad-CAM, Saliency, Integrated Gradients + AI report (EN / AR)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22576" y="2743200"/>
            <a:ext cx="320040" cy="0"/>
          </a:xfrm>
          <a:prstGeom prst="line">
            <a:avLst/>
          </a:prstGeom>
          <a:ln w="15875">
            <a:solidFill>
              <a:srgbClr val="1B1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34256" y="2743200"/>
            <a:ext cx="182880" cy="0"/>
          </a:xfrm>
          <a:prstGeom prst="line">
            <a:avLst/>
          </a:prstGeom>
          <a:ln w="15875">
            <a:solidFill>
              <a:srgbClr val="1B1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517136" y="1856231"/>
            <a:ext cx="0" cy="886969"/>
          </a:xfrm>
          <a:prstGeom prst="line">
            <a:avLst/>
          </a:prstGeom>
          <a:ln w="15875">
            <a:solidFill>
              <a:srgbClr val="1B1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17136" y="1856231"/>
            <a:ext cx="182880" cy="0"/>
          </a:xfrm>
          <a:prstGeom prst="line">
            <a:avLst/>
          </a:prstGeom>
          <a:ln w="15875">
            <a:solidFill>
              <a:srgbClr val="1B1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17136" y="2743200"/>
            <a:ext cx="0" cy="1005839"/>
          </a:xfrm>
          <a:prstGeom prst="line">
            <a:avLst/>
          </a:prstGeom>
          <a:ln w="15875">
            <a:solidFill>
              <a:srgbClr val="1B1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17136" y="3749039"/>
            <a:ext cx="182880" cy="0"/>
          </a:xfrm>
          <a:prstGeom prst="line">
            <a:avLst/>
          </a:prstGeom>
          <a:ln w="15875">
            <a:solidFill>
              <a:srgbClr val="1B1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00216" y="3749039"/>
            <a:ext cx="320040" cy="0"/>
          </a:xfrm>
          <a:prstGeom prst="line">
            <a:avLst/>
          </a:prstGeom>
          <a:ln w="15875">
            <a:solidFill>
              <a:srgbClr val="1B1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5256" y="4434840"/>
            <a:ext cx="7223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C3939"/>
                </a:solidFill>
                <a:latin typeface="Roboto"/>
              </a:rPr>
              <a:t>Abnormal windows are escalated automatically, so heavy inference and XAI run only when the binary screen flags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03386"/>
            <a:ext cx="26580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Operational Modes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795114"/>
            <a:ext cx="733640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NiceGUI interface serves single-record analysis, long-recording batches, and simulated real-time cardiac monitoring.</a:t>
            </a:r>
            <a:endParaRPr lang="en-US" sz="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FA76BE-F13E-AB73-7A54-A8445A06C2F5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905256" y="1371600"/>
            <a:ext cx="2286000" cy="2606040"/>
          </a:xfrm>
          <a:prstGeom prst="roundRect">
            <a:avLst>
              <a:gd name="adj" fmla="val 6000"/>
            </a:avLst>
          </a:prstGeom>
          <a:solidFill>
            <a:srgbClr val="E1E1EA"/>
          </a:solidFill>
          <a:ln w="952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rIns="146304" b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8"/>
                </a:solidFill>
                <a:latin typeface="Raleway Light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27"/>
                </a:solidFill>
                <a:latin typeface="Raleway"/>
              </a:rPr>
              <a:t>Manual Upload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3C3939"/>
                </a:solidFill>
                <a:latin typeface="Roboto"/>
              </a:rPr>
              <a:t>One 10-second ECG signal with patient metadata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3C3939"/>
                </a:solidFill>
                <a:latin typeface="Roboto"/>
              </a:rPr>
              <a:t>Multi-label output: NORM, MI, STTC, CD, HYP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3C3939"/>
                </a:solidFill>
                <a:latin typeface="Roboto"/>
              </a:rPr>
              <a:t>XAI: Grad-CAM, Saliency, Integrated Gradients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3C3939"/>
                </a:solidFill>
                <a:latin typeface="Roboto"/>
              </a:rPr>
              <a:t>AI clinical report in English or Arabic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9856" y="1371600"/>
            <a:ext cx="2286000" cy="2606040"/>
          </a:xfrm>
          <a:prstGeom prst="roundRect">
            <a:avLst>
              <a:gd name="adj" fmla="val 6000"/>
            </a:avLst>
          </a:prstGeom>
          <a:solidFill>
            <a:srgbClr val="E1E1EA"/>
          </a:solidFill>
          <a:ln w="9525">
            <a:solidFill>
              <a:srgbClr val="C7C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rIns="146304" b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B6B78"/>
                </a:solidFill>
                <a:latin typeface="Raleway Light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1B27"/>
                </a:solidFill>
                <a:latin typeface="Raleway"/>
              </a:rPr>
              <a:t>Batch Mode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3C3939"/>
                </a:solidFill>
                <a:latin typeface="Roboto"/>
              </a:rPr>
              <a:t>Long-duration recordings or many short ones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3C3939"/>
                </a:solidFill>
                <a:latin typeface="Roboto"/>
              </a:rPr>
              <a:t>Split into 10 s chunks; record status = highest chunk probability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3C3939"/>
                </a:solidFill>
                <a:latin typeface="Roboto"/>
              </a:rPr>
              <a:t>Automated batch classification table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3C3939"/>
                </a:solidFill>
                <a:latin typeface="Roboto"/>
              </a:rPr>
              <a:t>Reports generated on demand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34456" y="1371600"/>
            <a:ext cx="2286000" cy="2606040"/>
          </a:xfrm>
          <a:prstGeom prst="roundRect">
            <a:avLst>
              <a:gd name="adj" fmla="val 6000"/>
            </a:avLst>
          </a:prstGeom>
          <a:solidFill>
            <a:srgbClr val="1B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rIns="146304" bIns="73152" rtlCol="0" anchor="t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C7C7D0"/>
                </a:solidFill>
                <a:latin typeface="Raleway Light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Raleway"/>
              </a:rPr>
              <a:t>Live Monitoring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FFFFFF"/>
                </a:solidFill>
                <a:latin typeface="Roboto"/>
              </a:rPr>
              <a:t>Simulated real-time cardiac monitoring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FFFFFF"/>
                </a:solidFill>
                <a:latin typeface="Roboto"/>
              </a:rPr>
              <a:t>Binary model screens every window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FFFFFF"/>
                </a:solidFill>
                <a:latin typeface="Roboto"/>
              </a:rPr>
              <a:t>Abnormal window stops the stream and escalates to the CNN-SE-Transformer</a:t>
            </a:r>
          </a:p>
          <a:p>
            <a:pPr marL="150000" indent="-150000" algn="l">
              <a:spcAft>
                <a:spcPts val="500"/>
              </a:spcAft>
              <a:buFont typeface="Arial"/>
              <a:buChar char="•"/>
            </a:pPr>
            <a:r>
              <a:rPr sz="950" b="0">
                <a:solidFill>
                  <a:srgbClr val="FFFFFF"/>
                </a:solidFill>
                <a:latin typeface="Roboto"/>
              </a:rPr>
              <a:t>Full XAI and clinical report for the flagged window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89186"/>
            <a:ext cx="437852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Where the Field Stands Today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53554"/>
            <a:ext cx="3976092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Recent advances demonstrate strong classification performance, but a critical gap persists: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existing system combines high-accuracy ECG classification, multi-method XAI, and LLM-generated clinical narratives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a single integrated pipeline.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41871" y="1943844"/>
            <a:ext cx="3976092" cy="881137"/>
          </a:xfrm>
          <a:prstGeom prst="roundRect">
            <a:avLst>
              <a:gd name="adj" fmla="val 6018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7" y="2129284"/>
            <a:ext cx="157758" cy="1262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2041" y="2087835"/>
            <a:ext cx="3439716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Gap: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prior work unifies CNN-SE-Transformer classification + multi-method XAI + fine-tuned LLM clinical reports.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730800" y="1078855"/>
            <a:ext cx="3976092" cy="3548955"/>
          </a:xfrm>
          <a:prstGeom prst="roundRect">
            <a:avLst>
              <a:gd name="adj" fmla="val 149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35562" y="1083618"/>
            <a:ext cx="3966567" cy="3353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61843" y="1155799"/>
            <a:ext cx="93516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54179" y="1155799"/>
            <a:ext cx="1131094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Contribution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42448" y="1155799"/>
            <a:ext cx="113347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35562" y="1418927"/>
            <a:ext cx="3966567" cy="71720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61843" y="1491109"/>
            <a:ext cx="93516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Hannun et al. (2019)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54179" y="1491109"/>
            <a:ext cx="1131094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matches cardiologist accuracy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442448" y="1491109"/>
            <a:ext cx="113347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Black box — no transparency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35562" y="2136130"/>
            <a:ext cx="3966567" cy="7172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61843" y="2208312"/>
            <a:ext cx="93516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Ansari et al. (2023)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054179" y="2208312"/>
            <a:ext cx="1131094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DL review, consistent accuracy gains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442448" y="2208312"/>
            <a:ext cx="113347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Explainability unresolved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35562" y="2853333"/>
            <a:ext cx="3966567" cy="5262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61843" y="2925514"/>
            <a:ext cx="93516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Denysyuk et al. (2023)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054179" y="2925514"/>
            <a:ext cx="113109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DL outperforms traditional methods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442448" y="2925514"/>
            <a:ext cx="113347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Generalization, interpretability gaps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35562" y="3379589"/>
            <a:ext cx="3966567" cy="7172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61843" y="3451771"/>
            <a:ext cx="93516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Goettling et al. (2024)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054179" y="3451771"/>
            <a:ext cx="1131094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interpretability (xECGArch)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442448" y="3451771"/>
            <a:ext cx="113347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Clinical narrative lacking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735562" y="4096792"/>
            <a:ext cx="3966567" cy="5262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61843" y="4168973"/>
            <a:ext cx="93516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Zhang et al. (2025)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054179" y="4168973"/>
            <a:ext cx="113109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support clinical reasoning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442448" y="4168973"/>
            <a:ext cx="113347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ECG-specific</a:t>
            </a:r>
            <a:endParaRPr lang="en-US" sz="9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E0E6EE-A12C-66E8-1F5A-D07329B7FEF7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82042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958081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Primary: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Develop CardioInsight — an explainable AI system classifying five cardiac conditions from ECG signals with clinically meaningful explanations.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9610" y="1480914"/>
            <a:ext cx="4815780" cy="732830"/>
          </a:xfrm>
          <a:prstGeom prst="roundRect">
            <a:avLst>
              <a:gd name="adj" fmla="val 73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2811" y="1614115"/>
            <a:ext cx="213441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Two-Tier Deep Learning Models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82811" y="1884611"/>
            <a:ext cx="45493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 screen + CNN-SE-Transformer; ≥90% ROC-AUC, F1 ≥ 0.75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49610" y="2330128"/>
            <a:ext cx="4815780" cy="732830"/>
          </a:xfrm>
          <a:prstGeom prst="roundRect">
            <a:avLst>
              <a:gd name="adj" fmla="val 73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2811" y="2463329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Multi-Method XAI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2811" y="2733824"/>
            <a:ext cx="45493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Grad-CAM, Saliency Maps, and Integrated Gradients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9610" y="3179341"/>
            <a:ext cx="4815780" cy="732830"/>
          </a:xfrm>
          <a:prstGeom prst="roundRect">
            <a:avLst>
              <a:gd name="adj" fmla="val 73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2811" y="3312542"/>
            <a:ext cx="183155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Bilingual Fine-Tuned LLM Reports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82811" y="3583037"/>
            <a:ext cx="45493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GPT-4o-mini writes clinician-ready reports in English and Arabic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9610" y="4028554"/>
            <a:ext cx="4815780" cy="732830"/>
          </a:xfrm>
          <a:prstGeom prst="roundRect">
            <a:avLst>
              <a:gd name="adj" fmla="val 73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2811" y="4161755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Multi-Mode Clinician Interface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82811" y="4432250"/>
            <a:ext cx="454937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NiceGUI app with Manual, Batch, and Live Monitoring modes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56815"/>
            <a:ext cx="4998318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Implementation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016005" y="1032421"/>
            <a:ext cx="178519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&amp; Preprocessing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16005" y="1342132"/>
            <a:ext cx="2690813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PTB-XL: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21,837 clinical 12-lead ECGs from 18,885 patients. Bandpass filter (0.5–45 Hz), Daubechies wavelet denoising, global normalization. Stratified 70/15/15 split.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016005" y="221835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16005" y="2528069"/>
            <a:ext cx="2690813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residual blocks + Squeeze-and-Excitation attention + Transformer encoder. Multimodal fusion of ECG signal and patient metadata (age, gender, height, weight). Focal loss and label smoothing address class imbalance.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16005" y="359524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XAI Methods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16005" y="3904952"/>
            <a:ext cx="2690813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Grad-CAM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per-lead heatmaps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Saliency Maps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temporal inflection points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Gradients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per-feature attribution</a:t>
            </a:r>
            <a:endParaRPr lang="en-US" sz="9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9D6BF-2514-E2F5-5852-681B507A85F2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7A7F9B-8FD4-02D5-940F-1E8815E16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1342132"/>
            <a:ext cx="5261297" cy="28954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326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&amp; Web Interface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40607"/>
            <a:ext cx="20388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GPT-4o-mini Fine-Tuning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03822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JSONL dataset</a:t>
            </a:r>
          </a:p>
          <a:p>
            <a:pPr marL="171450" indent="-1714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80/20 train/validation split (seed 42).</a:t>
            </a:r>
          </a:p>
          <a:p>
            <a:pPr marL="171450" indent="-1714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epochs, batch size 8.</a:t>
            </a:r>
          </a:p>
          <a:p>
            <a:pPr marL="171450" indent="-1714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rate multiplier 0.05. 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003076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Reports in English and Arabic cover: </a:t>
            </a:r>
          </a:p>
          <a:p>
            <a:pPr marL="228600" indent="-22860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 overview</a:t>
            </a:r>
          </a:p>
          <a:p>
            <a:pPr marL="228600" indent="-22860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ECG interpretation</a:t>
            </a:r>
          </a:p>
          <a:p>
            <a:pPr marL="228600" indent="-22860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symptoms</a:t>
            </a:r>
          </a:p>
          <a:p>
            <a:pPr marL="228600" indent="-22860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clinical significance</a:t>
            </a:r>
          </a:p>
          <a:p>
            <a:pPr marL="228600" indent="-22860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follow-up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7605" y="1498848"/>
            <a:ext cx="4107135" cy="2801392"/>
          </a:xfrm>
          <a:prstGeom prst="roundRect">
            <a:avLst>
              <a:gd name="adj" fmla="val 3644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89363" y="1640607"/>
            <a:ext cx="19297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NiceGUI Web Interface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2003822"/>
            <a:ext cx="3823618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panel: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Mode selector (Manual · Batch · Live), patient metadata, XAI method, report language, ECG upload</a:t>
            </a: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panel: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ECG visualization, predictions, XAI figures, bilingual LLM report, metadata charts</a:t>
            </a:r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Interaction:</a:t>
            </a: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Asynchronous processing keeps the interface responsive during live streaming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1E27ED-6F84-7C78-7AFB-68A2DE7F3CDB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11138"/>
            <a:ext cx="33780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Contributions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090985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2901" y="1301502"/>
            <a:ext cx="4034730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2901" y="1407096"/>
            <a:ext cx="185261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First Integrated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2901" y="1695450"/>
            <a:ext cx="403473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CNN-SE-Transformer + multi-method XAI + bilingual fine-tuned LLM for ECG diagnosis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36368" y="1090985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6368" y="1301502"/>
            <a:ext cx="4034730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36368" y="1407096"/>
            <a:ext cx="187709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Multimodal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36368" y="1695450"/>
            <a:ext cx="403473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Fuses ECG signals with patient demographic metadata for richer context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2901" y="2347689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901" y="2558207"/>
            <a:ext cx="4034730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2901" y="2663800"/>
            <a:ext cx="216701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Multi-Layered Explainability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2901" y="2952155"/>
            <a:ext cx="403473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Grad-CAM, Saliency Maps, and Integrated Gradients applied simultaneously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36368" y="2347689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6368" y="2558207"/>
            <a:ext cx="4034730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36368" y="2663800"/>
            <a:ext cx="231137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Bilingual Clinical Narratives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36368" y="2952155"/>
            <a:ext cx="403473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Turns predictions into structured clinical reports in English and Arabic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2901" y="3604394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901" y="3814911"/>
            <a:ext cx="4034730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901" y="3920505"/>
            <a:ext cx="280168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Two-Tier Real-Time Screening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2901" y="4208859"/>
            <a:ext cx="403473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lightweight binary model screens live ECG and escalates only abnormal signals to the deep model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36368" y="3604394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36368" y="3814911"/>
            <a:ext cx="4034730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36368" y="3920505"/>
            <a:ext cx="169440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Multi-Mode Clinical Interface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36368" y="4208859"/>
            <a:ext cx="403473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Manual, Batch, and Live modes in one NiceGUI app, also a resource for trainees</a:t>
            </a:r>
            <a:endParaRPr lang="en-US" sz="10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D42A8E-3177-361C-97F8-AA88D05619CB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304577"/>
            <a:ext cx="23258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 &amp; Evaluation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98" y="1620589"/>
            <a:ext cx="4093146" cy="22845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87169" y="74786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687169" y="961876"/>
            <a:ext cx="2099221" cy="781124"/>
          </a:xfrm>
          <a:prstGeom prst="roundRect">
            <a:avLst>
              <a:gd name="adj" fmla="val 5853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77644" y="961876"/>
            <a:ext cx="38100" cy="781124"/>
          </a:xfrm>
          <a:prstGeom prst="roundRect">
            <a:avLst>
              <a:gd name="adj" fmla="val 10255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18287" y="1064419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Predictive Accuracy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18287" y="1270769"/>
            <a:ext cx="1865561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accuracy across all five diagnostic classes. MI and STTC were the strongest, with subtle patterns well-detected.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5687169" y="1804020"/>
            <a:ext cx="2099221" cy="781124"/>
          </a:xfrm>
          <a:prstGeom prst="roundRect">
            <a:avLst>
              <a:gd name="adj" fmla="val 5853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77644" y="1804020"/>
            <a:ext cx="38100" cy="781124"/>
          </a:xfrm>
          <a:prstGeom prst="roundRect">
            <a:avLst>
              <a:gd name="adj" fmla="val 10255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18287" y="1906563"/>
            <a:ext cx="118563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Clinical Report Quality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18287" y="2112913"/>
            <a:ext cx="1865561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sections consistently generated — overview, ECG interpretation, symptoms, significance, and follow-up.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687169" y="2646164"/>
            <a:ext cx="2099221" cy="657895"/>
          </a:xfrm>
          <a:prstGeom prst="roundRect">
            <a:avLst>
              <a:gd name="adj" fmla="val 6949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77644" y="2646164"/>
            <a:ext cx="38100" cy="657895"/>
          </a:xfrm>
          <a:prstGeom prst="roundRect">
            <a:avLst>
              <a:gd name="adj" fmla="val 10255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18287" y="274870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Medical Terminology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18287" y="2955057"/>
            <a:ext cx="1865561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Standardized, consistent cardiology terms used across all generated reports.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687169" y="3365078"/>
            <a:ext cx="2099221" cy="657895"/>
          </a:xfrm>
          <a:prstGeom prst="roundRect">
            <a:avLst>
              <a:gd name="adj" fmla="val 6949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677644" y="3365078"/>
            <a:ext cx="38100" cy="657895"/>
          </a:xfrm>
          <a:prstGeom prst="roundRect">
            <a:avLst>
              <a:gd name="adj" fmla="val 10255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18287" y="346762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Interface Usability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18287" y="3673971"/>
            <a:ext cx="1865561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layout, intuitive navigation, and real-time response confirmed.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5687169" y="4091657"/>
            <a:ext cx="2099221" cy="678582"/>
          </a:xfrm>
          <a:prstGeom prst="roundRect">
            <a:avLst>
              <a:gd name="adj" fmla="val 575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187" y="4216971"/>
            <a:ext cx="116235" cy="9301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89439" y="4175894"/>
            <a:ext cx="1703933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bugs resolved: wavelet selection, class imbalance (focal loss), prompt engineering for complete reports, and responsive layout.</a:t>
            </a:r>
            <a:endParaRPr lang="en-US" sz="7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D365E0-9FE2-5457-6BD3-2C9853A6F2B7}"/>
              </a:ext>
            </a:extLst>
          </p:cNvPr>
          <p:cNvSpPr/>
          <p:nvPr/>
        </p:nvSpPr>
        <p:spPr>
          <a:xfrm>
            <a:off x="7991022" y="4853989"/>
            <a:ext cx="1138856" cy="217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1029</Words>
  <Application>Microsoft Office PowerPoint</Application>
  <PresentationFormat>On-screen Show (16:9)</PresentationFormat>
  <Paragraphs>158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Raleway Light</vt:lpstr>
      <vt:lpstr>Raleway</vt:lpstr>
      <vt:lpstr>Arial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عبد الله وائل خالد جبر</cp:lastModifiedBy>
  <cp:revision>18</cp:revision>
  <dcterms:created xsi:type="dcterms:W3CDTF">2026-05-05T21:37:09Z</dcterms:created>
  <dcterms:modified xsi:type="dcterms:W3CDTF">2026-09-28T11:25:10Z</dcterms:modified>
</cp:coreProperties>
</file>